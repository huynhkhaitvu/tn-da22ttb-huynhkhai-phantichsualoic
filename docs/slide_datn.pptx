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2" r:id="rId17"/>
    <p:sldId id="273" r:id="rId18"/>
    <p:sldId id="271" r:id="rId19"/>
  </p:sldIdLst>
  <p:sldSz cx="18288000" cy="10287000"/>
  <p:notesSz cx="6858000" cy="9144000"/>
  <p:embeddedFontLst>
    <p:embeddedFont>
      <p:font typeface="Telegraf Bold" panose="020B0604020202020204" charset="0"/>
      <p:regular r:id="rId20"/>
    </p:embeddedFont>
    <p:embeddedFont>
      <p:font typeface="Telegraf" panose="020B0604020202020204" charset="0"/>
      <p:regular r:id="rId21"/>
    </p:embeddedFont>
    <p:embeddedFont>
      <p:font typeface="Arab Times" panose="020B0604020202020204" charset="-78"/>
      <p:regular r:id="rId22"/>
    </p:embeddedFont>
    <p:embeddedFont>
      <p:font typeface="Bogart Bold" panose="020B0604020202020204" charset="0"/>
      <p:regular r:id="rId23"/>
    </p:embeddedFont>
    <p:embeddedFont>
      <p:font typeface="Nunito Sans Expanded Ultra-Bold" panose="020B0604020202020204" charset="0"/>
      <p:regular r:id="rId24"/>
    </p:embeddedFont>
    <p:embeddedFont>
      <p:font typeface="Calibri" panose="020F0502020204030204" pitchFamily="34" charset="0"/>
      <p:regular r:id="rId25"/>
      <p:bold r:id="rId26"/>
      <p:italic r:id="rId27"/>
      <p:boldItalic r:id="rId2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47" d="100"/>
          <a:sy n="47" d="100"/>
        </p:scale>
        <p:origin x="696" y="4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7.fntdata"/><Relationship Id="rId3" Type="http://schemas.openxmlformats.org/officeDocument/2006/relationships/slide" Target="slides/slide2.xml"/><Relationship Id="rId21" Type="http://schemas.openxmlformats.org/officeDocument/2006/relationships/font" Target="fonts/font2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6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1.fntdata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5.fntdata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4.fntdata"/><Relationship Id="rId28" Type="http://schemas.openxmlformats.org/officeDocument/2006/relationships/font" Target="fonts/font9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3.fntdata"/><Relationship Id="rId27" Type="http://schemas.openxmlformats.org/officeDocument/2006/relationships/font" Target="fonts/font8.fntdata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7/7/2026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1E34B6">
                <a:alpha val="100000"/>
              </a:srgbClr>
            </a:gs>
            <a:gs pos="100000">
              <a:srgbClr val="3076FC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7"/>
          <p:cNvSpPr txBox="1"/>
          <p:nvPr/>
        </p:nvSpPr>
        <p:spPr>
          <a:xfrm>
            <a:off x="8882749" y="1721458"/>
            <a:ext cx="8376551" cy="1330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13"/>
              </a:lnSpc>
            </a:pPr>
            <a:r>
              <a:rPr lang="en-US" sz="10013" b="1" spc="-400">
                <a:solidFill>
                  <a:srgbClr val="FFFFFF"/>
                </a:solidFill>
                <a:latin typeface="Bogart Bold"/>
                <a:ea typeface="Bogart Bold"/>
                <a:cs typeface="Bogart Bold"/>
                <a:sym typeface="Bogart Bold"/>
              </a:rPr>
              <a:t>BÁO CÁO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9436451" y="3242631"/>
            <a:ext cx="8376551" cy="133067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r">
              <a:lnSpc>
                <a:spcPts val="10013"/>
              </a:lnSpc>
            </a:pPr>
            <a:r>
              <a:rPr lang="en-US" sz="10013" b="1" spc="-400">
                <a:solidFill>
                  <a:srgbClr val="94E9FF"/>
                </a:solidFill>
                <a:latin typeface="Bogart Bold"/>
                <a:ea typeface="Bogart Bold"/>
                <a:cs typeface="Bogart Bold"/>
                <a:sym typeface="Bogart Bold"/>
              </a:rPr>
              <a:t>TỐT NGHIỆP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2485424" y="4873909"/>
            <a:ext cx="14123385" cy="166199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vi-VN" sz="3600" b="1" spc="1083" smtClean="0">
                <a:solidFill>
                  <a:schemeClr val="bg1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XÂY DỰNG </a:t>
            </a:r>
            <a:r>
              <a:rPr lang="en-US" sz="3600" b="1" spc="1083" smtClean="0">
                <a:solidFill>
                  <a:schemeClr val="bg1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HỆ </a:t>
            </a:r>
            <a:r>
              <a:rPr lang="en-US" sz="3600" b="1" spc="1083" dirty="0">
                <a:solidFill>
                  <a:schemeClr val="bg1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THỐNG PHÂN TÍCH</a:t>
            </a:r>
          </a:p>
          <a:p>
            <a:pPr marL="0" lvl="0" indent="0" algn="ctr">
              <a:lnSpc>
                <a:spcPct val="150000"/>
              </a:lnSpc>
              <a:spcBef>
                <a:spcPct val="0"/>
              </a:spcBef>
            </a:pPr>
            <a:r>
              <a:rPr lang="en-US" sz="3600" b="1" spc="1083" dirty="0">
                <a:solidFill>
                  <a:schemeClr val="bg1"/>
                </a:solidFill>
                <a:latin typeface="Nunito Sans Expanded Ultra-Bold"/>
                <a:ea typeface="Nunito Sans Expanded Ultra-Bold"/>
                <a:cs typeface="Nunito Sans Expanded Ultra-Bold"/>
                <a:sym typeface="Nunito Sans Expanded Ultra-Bold"/>
              </a:rPr>
              <a:t>VÀ GỢI Ý SỬA LỖI MÃ NGUỒN C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1698874" y="6990390"/>
            <a:ext cx="6438959" cy="5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spc="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Sinh viên thực hiện: Huỳnh  Khải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8749097" y="6990390"/>
            <a:ext cx="9039521" cy="5759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spc="47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Giáo viên hướng dẫn: Nguyễn Ngọc Đan Thanh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698874" y="7970270"/>
            <a:ext cx="6438959" cy="57590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spc="47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Mã</a:t>
            </a:r>
            <a:r>
              <a:rPr lang="en-US" sz="3198" spc="47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198" spc="47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số</a:t>
            </a:r>
            <a:r>
              <a:rPr lang="en-US" sz="3198" spc="47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198" spc="47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sinh</a:t>
            </a:r>
            <a:r>
              <a:rPr lang="en-US" sz="3198" spc="47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198" spc="47" dirty="0" err="1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viên</a:t>
            </a:r>
            <a:r>
              <a:rPr lang="en-US" sz="3198" spc="47" dirty="0">
                <a:solidFill>
                  <a:srgbClr val="FFFFFF"/>
                </a:solidFill>
                <a:latin typeface="Telegraf"/>
                <a:ea typeface="Telegraf"/>
                <a:cs typeface="Telegraf"/>
                <a:sym typeface="Telegraf"/>
              </a:rPr>
              <a:t> : 110122225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5240" y="1"/>
            <a:ext cx="3876480" cy="361950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5408133" y="494508"/>
            <a:ext cx="358771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dirty="0" smtClean="0">
                <a:solidFill>
                  <a:schemeClr val="bg1"/>
                </a:solidFill>
              </a:rPr>
              <a:t>Đại học Trà Vinh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4089400" y="1207792"/>
            <a:ext cx="655070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600" dirty="0">
                <a:solidFill>
                  <a:schemeClr val="bg1"/>
                </a:solidFill>
              </a:rPr>
              <a:t>Trường Kỹ thuật và Công nghệ</a:t>
            </a:r>
            <a:endParaRPr lang="en-US" sz="3600" dirty="0">
              <a:solidFill>
                <a:schemeClr val="bg1"/>
              </a:solidFill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4918353" y="2013751"/>
            <a:ext cx="4943982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3200" dirty="0" smtClean="0">
                <a:solidFill>
                  <a:schemeClr val="bg1"/>
                </a:solidFill>
              </a:rPr>
              <a:t>Khoa Công nghệ thông tin</a:t>
            </a:r>
            <a:endParaRPr lang="en-US" sz="3200" dirty="0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623581" y="1055072"/>
            <a:ext cx="5213442" cy="8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Lý do chọn đề tài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74087" y="3123793"/>
            <a:ext cx="15512430" cy="48036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230"/>
              </a:lnSpc>
              <a:spcBef>
                <a:spcPct val="0"/>
              </a:spcBef>
            </a:pP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Ngôn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ngữ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lập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C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môn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học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nền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tảng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trong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chương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đào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tạo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của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nhiều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trường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đại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học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.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Tuy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nhiên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trong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quá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học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tập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sinh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viên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thường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gặp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khó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khăn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trong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việc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xác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định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sửa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lỗi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logic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của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chương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. </a:t>
            </a:r>
          </a:p>
          <a:p>
            <a:pPr algn="l">
              <a:lnSpc>
                <a:spcPts val="4230"/>
              </a:lnSpc>
              <a:spcBef>
                <a:spcPct val="0"/>
              </a:spcBef>
            </a:pP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Bên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cạnh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đó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hệ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thống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chấm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bài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trực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tuyến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hiện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nay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chủ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yếu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đánh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giá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chương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thông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qua Test Case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chỉ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thông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báo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kết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quả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đạt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hoặc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không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đạt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chưa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hỗ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giải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thích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nguyên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nhân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</a:p>
          <a:p>
            <a:pPr algn="l">
              <a:lnSpc>
                <a:spcPts val="4230"/>
              </a:lnSpc>
              <a:spcBef>
                <a:spcPct val="0"/>
              </a:spcBef>
            </a:pP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Sự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phát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triển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của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trí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tuệ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nhân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tạo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đặc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biệt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mô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hình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ngôn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ngữ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lớn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tạo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điều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kiện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để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xây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dựng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hệ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thống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có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khả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năng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phân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tích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mã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nguồn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giải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thích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lỗi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hỗ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người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học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hiệu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quả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hơn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.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Vì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vậy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việc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xây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dựng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một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hệ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thống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kết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hợp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giữa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kiểm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thử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bằng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Test Case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AI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hỗ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phân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tích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lỗi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logic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cần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thiết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,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góp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phần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nâng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cao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chất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lượng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học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tập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và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hỗ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trợ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công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tác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giảng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 </a:t>
            </a:r>
            <a:r>
              <a:rPr lang="en-US" sz="3021" spc="45" dirty="0" err="1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dạy</a:t>
            </a:r>
            <a:r>
              <a:rPr lang="en-US" sz="3021" spc="45" dirty="0">
                <a:solidFill>
                  <a:srgbClr val="000000"/>
                </a:solidFill>
                <a:latin typeface="Times New Roman" panose="02020603050405020304" pitchFamily="18" charset="0"/>
                <a:ea typeface="Arab Times"/>
                <a:cs typeface="Times New Roman" panose="02020603050405020304" pitchFamily="18" charset="0"/>
                <a:sym typeface="Arab Times"/>
              </a:rPr>
              <a:t>.</a:t>
            </a: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2"/>
          <p:cNvSpPr txBox="1"/>
          <p:nvPr/>
        </p:nvSpPr>
        <p:spPr>
          <a:xfrm>
            <a:off x="5684213" y="1455882"/>
            <a:ext cx="6418822" cy="168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Mục tiêu nghiên cứu</a:t>
            </a:r>
          </a:p>
          <a:p>
            <a:pPr algn="l">
              <a:lnSpc>
                <a:spcPts val="6578"/>
              </a:lnSpc>
              <a:spcBef>
                <a:spcPct val="0"/>
              </a:spcBef>
            </a:pPr>
            <a:endParaRPr lang="en-US" sz="4698" b="1" spc="7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grpSp>
        <p:nvGrpSpPr>
          <p:cNvPr id="3" name="Group 3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4" name="Freeform 4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5" name="TextBox 5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1362836" y="3041438"/>
            <a:ext cx="15817098" cy="51455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b="1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Mục</a:t>
            </a:r>
            <a:r>
              <a:rPr lang="en-US" sz="3198" b="1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 </a:t>
            </a:r>
            <a:r>
              <a:rPr lang="en-US" sz="3198" b="1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tiêu</a:t>
            </a:r>
            <a:r>
              <a:rPr lang="en-US" sz="3198" b="1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 </a:t>
            </a:r>
            <a:r>
              <a:rPr lang="en-US" sz="3198" b="1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tổng</a:t>
            </a:r>
            <a:r>
              <a:rPr lang="en-US" sz="3198" b="1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 </a:t>
            </a:r>
            <a:r>
              <a:rPr lang="en-US" sz="3198" b="1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 Bold"/>
                <a:cs typeface="Times New Roman" panose="02020603050405020304" pitchFamily="18" charset="0"/>
                <a:sym typeface="Telegraf Bold"/>
              </a:rPr>
              <a:t>quát</a:t>
            </a:r>
            <a:endParaRPr lang="en-US" sz="3198" b="1" spc="47" dirty="0">
              <a:solidFill>
                <a:srgbClr val="000000"/>
              </a:solidFill>
              <a:latin typeface="Times New Roman" panose="02020603050405020304" pitchFamily="18" charset="0"/>
              <a:ea typeface="Telegraf Bold"/>
              <a:cs typeface="Times New Roman" panose="02020603050405020304" pitchFamily="18" charset="0"/>
              <a:sym typeface="Telegraf Bold"/>
            </a:endParaRPr>
          </a:p>
          <a:p>
            <a:pPr algn="l">
              <a:lnSpc>
                <a:spcPts val="4478"/>
              </a:lnSpc>
              <a:spcBef>
                <a:spcPct val="0"/>
              </a:spcBef>
            </a:pPr>
            <a:endParaRPr lang="en-US" sz="3198" b="1" spc="47" dirty="0">
              <a:solidFill>
                <a:srgbClr val="000000"/>
              </a:solidFill>
              <a:latin typeface="Times New Roman" panose="02020603050405020304" pitchFamily="18" charset="0"/>
              <a:ea typeface="Telegraf Bold"/>
              <a:cs typeface="Times New Roman" panose="02020603050405020304" pitchFamily="18" charset="0"/>
              <a:sym typeface="Telegraf Bold"/>
            </a:endParaRPr>
          </a:p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Xây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dựng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hệ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thống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hỗ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trợ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học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tập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thực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hành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lập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ngôn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ngữ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C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trên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nền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tảng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Web,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cho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phép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người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dùng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biên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dịch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,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thực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đánh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giá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chương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thông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qua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các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bộ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Test Case,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đồng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thời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tích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hợp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trí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tuệ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nhân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tạo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nhằm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hỗ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trợ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phân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tích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nguyên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nhân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gợi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ý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sửa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lỗi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logic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trong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mã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nguồn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.</a:t>
            </a:r>
          </a:p>
          <a:p>
            <a:pPr algn="l">
              <a:lnSpc>
                <a:spcPts val="4478"/>
              </a:lnSpc>
              <a:spcBef>
                <a:spcPct val="0"/>
              </a:spcBef>
            </a:pP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Hệ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thống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hướng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đến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việc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nâng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cao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hiệu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quả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học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tập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,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giúp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người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học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hiểu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rõ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bản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chất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của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các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lỗi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logic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cải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thiện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kỹ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năng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lập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thông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qua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các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gợi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ý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phân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tích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198" spc="47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thông</a:t>
            </a:r>
            <a:r>
              <a:rPr lang="en-US" sz="3198" spc="47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minh.</a:t>
            </a:r>
          </a:p>
          <a:p>
            <a:pPr algn="l">
              <a:lnSpc>
                <a:spcPts val="4478"/>
              </a:lnSpc>
              <a:spcBef>
                <a:spcPct val="0"/>
              </a:spcBef>
            </a:pPr>
            <a:endParaRPr lang="en-US" sz="3198" spc="47" dirty="0">
              <a:solidFill>
                <a:srgbClr val="000000"/>
              </a:solidFill>
              <a:latin typeface="Times New Roman" panose="02020603050405020304" pitchFamily="18" charset="0"/>
              <a:ea typeface="Telegraf"/>
              <a:cs typeface="Times New Roman" panose="02020603050405020304" pitchFamily="18" charset="0"/>
              <a:sym typeface="Telegraf"/>
            </a:endParaRPr>
          </a:p>
        </p:txBody>
      </p:sp>
    </p:spTree>
  </p:cSld>
  <p:clrMapOvr>
    <a:masterClrMapping/>
  </p:clrMapOvr>
  <p:transition>
    <p:wipe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44247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6150189" y="885825"/>
            <a:ext cx="6418822" cy="168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Mục tiêu nghiên cứu</a:t>
            </a:r>
          </a:p>
          <a:p>
            <a:pPr algn="l">
              <a:lnSpc>
                <a:spcPts val="6578"/>
              </a:lnSpc>
              <a:spcBef>
                <a:spcPct val="0"/>
              </a:spcBef>
            </a:pPr>
            <a:endParaRPr lang="en-US" sz="4698" b="1" spc="7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028700" y="2964486"/>
            <a:ext cx="17259300" cy="4683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b="1" spc="49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Mục</a:t>
            </a:r>
            <a:r>
              <a:rPr lang="en-US" sz="3313" b="1" spc="49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313" b="1" spc="49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tiêu</a:t>
            </a:r>
            <a:r>
              <a:rPr lang="en-US" sz="3313" b="1" spc="49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313" b="1" spc="49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cụ</a:t>
            </a:r>
            <a:r>
              <a:rPr lang="en-US" sz="3313" b="1" spc="49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3313" b="1" spc="49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thể</a:t>
            </a:r>
            <a:endParaRPr lang="en-US" sz="3313" b="1" spc="49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l">
              <a:lnSpc>
                <a:spcPts val="4639"/>
              </a:lnSpc>
              <a:spcBef>
                <a:spcPct val="0"/>
              </a:spcBef>
            </a:pPr>
            <a:endParaRPr lang="en-US" sz="3313" b="1" spc="49" dirty="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Xây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dựng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hệ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thống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quản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lý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người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dùng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với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ba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vai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trò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gồm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Quản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trị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viên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,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Giáo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viên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Học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sinh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.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Xây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dựng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chức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năng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quản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lý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đề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bài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bộ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Test Case.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Xây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dựng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chức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năng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biên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dịch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,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thực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đánh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giá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chương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C  .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Tích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hợp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các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mô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hình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trí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tuệ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nhân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tạo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.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Thiết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kế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và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xây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dựng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giao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diện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Web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trực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quan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,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thân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thiện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với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người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313" spc="49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dùng</a:t>
            </a:r>
            <a:r>
              <a:rPr lang="en-US" sz="3313" spc="4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.</a:t>
            </a:r>
          </a:p>
          <a:p>
            <a:pPr algn="l">
              <a:lnSpc>
                <a:spcPts val="4639"/>
              </a:lnSpc>
              <a:spcBef>
                <a:spcPct val="0"/>
              </a:spcBef>
            </a:pPr>
            <a:endParaRPr lang="en-US" sz="3313" spc="4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699647" y="687603"/>
            <a:ext cx="6687253" cy="16809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Đối tượng nghiên cứu</a:t>
            </a:r>
          </a:p>
          <a:p>
            <a:pPr algn="l">
              <a:lnSpc>
                <a:spcPts val="6578"/>
              </a:lnSpc>
              <a:spcBef>
                <a:spcPct val="0"/>
              </a:spcBef>
            </a:pPr>
            <a:endParaRPr lang="en-US" sz="4698" b="1" spc="70">
              <a:solidFill>
                <a:srgbClr val="000000"/>
              </a:solidFill>
              <a:latin typeface="Telegraf Bold"/>
              <a:ea typeface="Telegraf Bold"/>
              <a:cs typeface="Telegraf Bold"/>
              <a:sym typeface="Telegraf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1879353" y="2812667"/>
            <a:ext cx="12455369" cy="553997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vi-VN" sz="3885" spc="58" dirty="0" smtClean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 </a:t>
            </a:r>
            <a:r>
              <a:rPr lang="en-US" sz="3885" spc="58" dirty="0" smtClean="0">
                <a:solidFill>
                  <a:srgbClr val="000000"/>
                </a:solidFill>
                <a:latin typeface="Telegraf"/>
                <a:ea typeface="Telegraf"/>
                <a:cs typeface="Telegraf"/>
                <a:sym typeface="Telegraf"/>
              </a:rPr>
              <a:t>·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Ngôn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ngữ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lập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C.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Các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lỗi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logic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trong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chương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C.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Phương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pháp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kiểm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thử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chương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bằng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Test Case.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Trình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biên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dịch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GCC.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Mô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hình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ngôn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ngữ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 </a:t>
            </a:r>
            <a:r>
              <a:rPr lang="en-US" sz="3885" spc="58" dirty="0" err="1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lớn</a:t>
            </a: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·Flask Framework.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r>
              <a:rPr lang="en-US" sz="3885" spc="58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·SQLite.</a:t>
            </a:r>
          </a:p>
          <a:p>
            <a:pPr algn="l">
              <a:lnSpc>
                <a:spcPts val="5439"/>
              </a:lnSpc>
              <a:spcBef>
                <a:spcPct val="0"/>
              </a:spcBef>
            </a:pPr>
            <a:endParaRPr lang="en-US" sz="3885" spc="58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5837730" y="1585142"/>
            <a:ext cx="5975449" cy="8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Công nghệ sử dụng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2633974" y="3365050"/>
            <a:ext cx="6942154" cy="48884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852377" lvl="1" indent="-426189" algn="l">
              <a:lnSpc>
                <a:spcPts val="5527"/>
              </a:lnSpc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Flask</a:t>
            </a:r>
          </a:p>
          <a:p>
            <a:pPr marL="852377" lvl="1" indent="-426189" algn="l">
              <a:lnSpc>
                <a:spcPts val="5527"/>
              </a:lnSpc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HTML/CSS/JavaScript</a:t>
            </a:r>
          </a:p>
          <a:p>
            <a:pPr marL="852377" lvl="1" indent="-426189" algn="l">
              <a:lnSpc>
                <a:spcPts val="5527"/>
              </a:lnSpc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SQLite</a:t>
            </a:r>
          </a:p>
          <a:p>
            <a:pPr marL="852377" lvl="1" indent="-426189" algn="l">
              <a:lnSpc>
                <a:spcPts val="5527"/>
              </a:lnSpc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GCC</a:t>
            </a:r>
          </a:p>
          <a:p>
            <a:pPr marL="852377" lvl="1" indent="-426189" algn="l">
              <a:lnSpc>
                <a:spcPts val="5527"/>
              </a:lnSpc>
              <a:spcBef>
                <a:spcPct val="0"/>
              </a:spcBef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AI API</a:t>
            </a:r>
          </a:p>
          <a:p>
            <a:pPr marL="852377" lvl="1" indent="-426189" algn="l">
              <a:lnSpc>
                <a:spcPts val="5527"/>
              </a:lnSpc>
              <a:spcBef>
                <a:spcPct val="0"/>
              </a:spcBef>
              <a:buFont typeface="Arial"/>
              <a:buChar char="•"/>
            </a:pPr>
            <a:r>
              <a:rPr lang="en-US" sz="3948" spc="59" dirty="0">
                <a:solidFill>
                  <a:srgbClr val="000000"/>
                </a:solidFill>
                <a:latin typeface="Times New Roman" panose="02020603050405020304" pitchFamily="18" charset="0"/>
                <a:ea typeface="Telegraf"/>
                <a:cs typeface="Times New Roman" panose="02020603050405020304" pitchFamily="18" charset="0"/>
                <a:sym typeface="Telegraf"/>
              </a:rPr>
              <a:t>Docker</a:t>
            </a:r>
          </a:p>
          <a:p>
            <a:pPr algn="l">
              <a:lnSpc>
                <a:spcPts val="5527"/>
              </a:lnSpc>
              <a:spcBef>
                <a:spcPct val="0"/>
              </a:spcBef>
            </a:pPr>
            <a:endParaRPr lang="en-US" sz="3948" spc="59" dirty="0">
              <a:solidFill>
                <a:srgbClr val="000000"/>
              </a:solidFill>
              <a:latin typeface="Telegraf"/>
              <a:ea typeface="Telegraf"/>
              <a:cs typeface="Telegraf"/>
              <a:sym typeface="Telegraf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289936" y="2423804"/>
            <a:ext cx="9762018" cy="7568421"/>
          </a:xfrm>
          <a:custGeom>
            <a:avLst/>
            <a:gdLst/>
            <a:ahLst/>
            <a:cxnLst/>
            <a:rect l="l" t="t" r="r" b="b"/>
            <a:pathLst>
              <a:path w="9762018" h="7568421">
                <a:moveTo>
                  <a:pt x="0" y="0"/>
                </a:moveTo>
                <a:lnTo>
                  <a:pt x="9762018" y="0"/>
                </a:lnTo>
                <a:lnTo>
                  <a:pt x="9762018" y="7568421"/>
                </a:lnTo>
                <a:lnTo>
                  <a:pt x="0" y="756842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20634" t="-2651" r="-24526" b="-266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5584578" y="1055824"/>
            <a:ext cx="5595261" cy="8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Kiến trúc hệ thống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612061" y="3234961"/>
            <a:ext cx="8968941" cy="6270460"/>
          </a:xfrm>
          <a:custGeom>
            <a:avLst/>
            <a:gdLst/>
            <a:ahLst/>
            <a:cxnLst/>
            <a:rect l="l" t="t" r="r" b="b"/>
            <a:pathLst>
              <a:path w="8968941" h="6270460">
                <a:moveTo>
                  <a:pt x="0" y="0"/>
                </a:moveTo>
                <a:lnTo>
                  <a:pt x="8968941" y="0"/>
                </a:lnTo>
                <a:lnTo>
                  <a:pt x="8968941" y="6270460"/>
                </a:lnTo>
                <a:lnTo>
                  <a:pt x="0" y="627046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612061" y="1124113"/>
            <a:ext cx="7683048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UseCase tổng quát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364703" y="2694865"/>
            <a:ext cx="8683096" cy="6964258"/>
          </a:xfrm>
          <a:custGeom>
            <a:avLst/>
            <a:gdLst/>
            <a:ahLst/>
            <a:cxnLst/>
            <a:rect l="l" t="t" r="r" b="b"/>
            <a:pathLst>
              <a:path w="8683096" h="6964258">
                <a:moveTo>
                  <a:pt x="0" y="0"/>
                </a:moveTo>
                <a:lnTo>
                  <a:pt x="8683096" y="0"/>
                </a:lnTo>
                <a:lnTo>
                  <a:pt x="8683096" y="6964258"/>
                </a:lnTo>
                <a:lnTo>
                  <a:pt x="0" y="696425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424263" y="843031"/>
            <a:ext cx="8563976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UseCase của học sinh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462267" y="2322091"/>
            <a:ext cx="9040706" cy="7140733"/>
          </a:xfrm>
          <a:custGeom>
            <a:avLst/>
            <a:gdLst/>
            <a:ahLst/>
            <a:cxnLst/>
            <a:rect l="l" t="t" r="r" b="b"/>
            <a:pathLst>
              <a:path w="9040706" h="7140733">
                <a:moveTo>
                  <a:pt x="0" y="0"/>
                </a:moveTo>
                <a:lnTo>
                  <a:pt x="9040706" y="0"/>
                </a:lnTo>
                <a:lnTo>
                  <a:pt x="9040706" y="7140732"/>
                </a:lnTo>
                <a:lnTo>
                  <a:pt x="0" y="7140732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85027" y="1093206"/>
            <a:ext cx="8717945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UseCase của giáo viên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4724193" y="2383747"/>
            <a:ext cx="7875141" cy="7153866"/>
          </a:xfrm>
          <a:custGeom>
            <a:avLst/>
            <a:gdLst/>
            <a:ahLst/>
            <a:cxnLst/>
            <a:rect l="l" t="t" r="r" b="b"/>
            <a:pathLst>
              <a:path w="7875141" h="7153866">
                <a:moveTo>
                  <a:pt x="0" y="0"/>
                </a:moveTo>
                <a:lnTo>
                  <a:pt x="7875141" y="0"/>
                </a:lnTo>
                <a:lnTo>
                  <a:pt x="7875141" y="7153866"/>
                </a:lnTo>
                <a:lnTo>
                  <a:pt x="0" y="7153866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724193" y="1116624"/>
            <a:ext cx="9824550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UseCase của quản trị viên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6705600" y="800100"/>
            <a:ext cx="4395783" cy="85219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Mô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hình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ERD</a:t>
            </a:r>
          </a:p>
        </p:txBody>
      </p:sp>
      <p:pic>
        <p:nvPicPr>
          <p:cNvPr id="7" name="Picture 6"/>
          <p:cNvPicPr/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0" y="2095500"/>
            <a:ext cx="8610600" cy="6172200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600607" y="1383361"/>
            <a:ext cx="6008463" cy="8349000"/>
          </a:xfrm>
          <a:custGeom>
            <a:avLst/>
            <a:gdLst/>
            <a:ahLst/>
            <a:cxnLst/>
            <a:rect l="l" t="t" r="r" b="b"/>
            <a:pathLst>
              <a:path w="6008463" h="8349000">
                <a:moveTo>
                  <a:pt x="0" y="0"/>
                </a:moveTo>
                <a:lnTo>
                  <a:pt x="6008462" y="0"/>
                </a:lnTo>
                <a:lnTo>
                  <a:pt x="6008462" y="8349000"/>
                </a:lnTo>
                <a:lnTo>
                  <a:pt x="0" y="8349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t="-847" b="-847"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90862" y="531164"/>
            <a:ext cx="9427951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hoạt động đăng nhập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6" name="TextBox 6"/>
          <p:cNvSpPr txBox="1"/>
          <p:nvPr/>
        </p:nvSpPr>
        <p:spPr>
          <a:xfrm>
            <a:off x="4662934" y="1034546"/>
            <a:ext cx="10061593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 đồ hoạt động làm bài lập trình</a:t>
            </a: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72200" y="1886742"/>
            <a:ext cx="6934200" cy="8171657"/>
          </a:xfrm>
          <a:prstGeom prst="rect">
            <a:avLst/>
          </a:prstGeom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Freeform 5"/>
          <p:cNvSpPr/>
          <p:nvPr/>
        </p:nvSpPr>
        <p:spPr>
          <a:xfrm>
            <a:off x="5451250" y="1523269"/>
            <a:ext cx="6488374" cy="8104931"/>
          </a:xfrm>
          <a:custGeom>
            <a:avLst/>
            <a:gdLst/>
            <a:ahLst/>
            <a:cxnLst/>
            <a:rect l="l" t="t" r="r" b="b"/>
            <a:pathLst>
              <a:path w="6488374" h="8104931">
                <a:moveTo>
                  <a:pt x="0" y="0"/>
                </a:moveTo>
                <a:lnTo>
                  <a:pt x="6488374" y="0"/>
                </a:lnTo>
                <a:lnTo>
                  <a:pt x="6488374" y="8104931"/>
                </a:lnTo>
                <a:lnTo>
                  <a:pt x="0" y="8104931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2822564" y="446174"/>
            <a:ext cx="11745746" cy="8521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6580"/>
              </a:lnSpc>
              <a:spcBef>
                <a:spcPct val="0"/>
              </a:spcBef>
            </a:pP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Sơ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đồ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hoạt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động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chức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</a:t>
            </a:r>
            <a:r>
              <a:rPr lang="en-US" sz="4700" b="1" spc="70" dirty="0" err="1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năng</a:t>
            </a:r>
            <a:r>
              <a:rPr lang="en-US" sz="4700" b="1" spc="70" dirty="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 AI Help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553200" y="1257300"/>
            <a:ext cx="531587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800" b="1" dirty="0" smtClean="0"/>
              <a:t>Kết quả đạt được</a:t>
            </a:r>
            <a:endParaRPr lang="en-US" sz="4800" b="1" dirty="0">
              <a:latin typeface="Telegraf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1954004" y="2781300"/>
            <a:ext cx="127254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431800" algn="just">
              <a:lnSpc>
                <a:spcPct val="150000"/>
              </a:lnSpc>
              <a:spcBef>
                <a:spcPts val="600"/>
              </a:spcBef>
              <a:spcAft>
                <a:spcPts val="600"/>
              </a:spcAft>
            </a:pPr>
            <a:r>
              <a:rPr lang="vi-VN" sz="3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</a:t>
            </a:r>
            <a:r>
              <a:rPr lang="en-US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ệ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thống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vi-VN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đã </a:t>
            </a:r>
            <a:r>
              <a:rPr lang="en-US" sz="3600" dirty="0" err="1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hoạt</a:t>
            </a:r>
            <a:r>
              <a:rPr lang="en-US" sz="3600" dirty="0" smtClean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ổn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định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đối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với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biên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dịch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chương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trình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thực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hiện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chính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xác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Test Case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được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xử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lý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tự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động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hiển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thị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rõ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ràng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Chức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AI Help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có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khả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năng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hỗ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người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học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phân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tích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nguyên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nhân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gây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lỗi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đưa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ra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các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gợi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ý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phù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hợp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dựa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trên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nội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dung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đề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bài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,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mã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nguồn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và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kết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quả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kiểm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 </a:t>
            </a:r>
            <a:r>
              <a:rPr lang="en-US" sz="3600" dirty="0" err="1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thử</a:t>
            </a:r>
            <a:r>
              <a:rPr lang="en-US" sz="3600" dirty="0">
                <a:solidFill>
                  <a:srgbClr val="000000"/>
                </a:solidFill>
                <a:latin typeface="Times New Roman" panose="02020603050405020304" pitchFamily="18" charset="0"/>
                <a:ea typeface="Calibri" panose="020F0502020204030204" pitchFamily="34" charset="0"/>
                <a:cs typeface="Times New Roman" panose="02020603050405020304" pitchFamily="18" charset="0"/>
              </a:rPr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4176460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4"/>
          <p:cNvSpPr txBox="1"/>
          <p:nvPr/>
        </p:nvSpPr>
        <p:spPr>
          <a:xfrm>
            <a:off x="6553200" y="1257300"/>
            <a:ext cx="524534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vi-VN" sz="4800" b="1" dirty="0" smtClean="0"/>
              <a:t>Hướng phát triển</a:t>
            </a:r>
            <a:endParaRPr lang="en-US" sz="4800" b="1" dirty="0">
              <a:latin typeface="Telegraf" panose="020B0604020202020204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145219" y="2596634"/>
            <a:ext cx="11875301" cy="120032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    M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ở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rộng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hỗ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trợ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thêm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nhiều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ngôn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ngữ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lập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trình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khác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như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C++, Java, </a:t>
            </a:r>
            <a:r>
              <a:rPr lang="vi-VN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Python.</a:t>
            </a:r>
            <a:endParaRPr lang="en-US" sz="3600" dirty="0"/>
          </a:p>
        </p:txBody>
      </p:sp>
      <p:sp>
        <p:nvSpPr>
          <p:cNvPr id="8" name="Rectangle 7"/>
          <p:cNvSpPr/>
          <p:nvPr/>
        </p:nvSpPr>
        <p:spPr>
          <a:xfrm>
            <a:off x="2145219" y="3796963"/>
            <a:ext cx="11601261" cy="230832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vi-VN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   P</a:t>
            </a:r>
            <a:r>
              <a:rPr lang="en-US" sz="36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hát</a:t>
            </a:r>
            <a:r>
              <a:rPr lang="en-US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triển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chức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năng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quản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lý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lớp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học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cho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phép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giáo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tạo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lớp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phân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công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bài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tập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lớp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hoặc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nhóm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học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sinh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,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quy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định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thời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hạn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nộp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bài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và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theo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dõi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kết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quả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thực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hiện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của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từng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>
                <a:latin typeface="Times New Roman" panose="02020603050405020304" pitchFamily="18" charset="0"/>
                <a:ea typeface="Calibri" panose="020F0502020204030204" pitchFamily="34" charset="0"/>
              </a:rPr>
              <a:t>thành</a:t>
            </a:r>
            <a:r>
              <a:rPr lang="en-US" sz="3600" dirty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r>
              <a:rPr lang="en-US" sz="3600" dirty="0" err="1" smtClean="0">
                <a:latin typeface="Times New Roman" panose="02020603050405020304" pitchFamily="18" charset="0"/>
                <a:ea typeface="Calibri" panose="020F0502020204030204" pitchFamily="34" charset="0"/>
              </a:rPr>
              <a:t>viên</a:t>
            </a:r>
            <a:r>
              <a:rPr lang="vi-VN" sz="3600" dirty="0" smtClean="0">
                <a:latin typeface="Times New Roman" panose="02020603050405020304" pitchFamily="18" charset="0"/>
                <a:ea typeface="Calibri" panose="020F0502020204030204" pitchFamily="34" charset="0"/>
              </a:rPr>
              <a:t> </a:t>
            </a:r>
            <a:endParaRPr lang="en-US" sz="3600" dirty="0"/>
          </a:p>
        </p:txBody>
      </p:sp>
    </p:spTree>
    <p:extLst>
      <p:ext uri="{BB962C8B-B14F-4D97-AF65-F5344CB8AC3E}">
        <p14:creationId xmlns:p14="http://schemas.microsoft.com/office/powerpoint/2010/main" val="183179963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2"/>
          <p:cNvGrpSpPr/>
          <p:nvPr/>
        </p:nvGrpSpPr>
        <p:grpSpPr>
          <a:xfrm rot="-5400000">
            <a:off x="14334722" y="-3676605"/>
            <a:ext cx="7353210" cy="7353210"/>
            <a:chOff x="0" y="0"/>
            <a:chExt cx="812800" cy="812800"/>
          </a:xfrm>
        </p:grpSpPr>
        <p:sp>
          <p:nvSpPr>
            <p:cNvPr id="3" name="Freeform 3"/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gradFill rotWithShape="1">
              <a:gsLst>
                <a:gs pos="0">
                  <a:srgbClr val="1F3CBD">
                    <a:alpha val="100000"/>
                  </a:srgbClr>
                </a:gs>
                <a:gs pos="33333">
                  <a:srgbClr val="3076FC">
                    <a:alpha val="50000"/>
                  </a:srgbClr>
                </a:gs>
                <a:gs pos="66667">
                  <a:srgbClr val="3076FC">
                    <a:alpha val="0"/>
                  </a:srgbClr>
                </a:gs>
                <a:gs pos="100000">
                  <a:srgbClr val="3076FC">
                    <a:alpha val="0"/>
                  </a:srgbClr>
                </a:gs>
              </a:gsLst>
              <a:lin ang="2700000"/>
            </a:gradFill>
          </p:spPr>
        </p:sp>
        <p:sp>
          <p:nvSpPr>
            <p:cNvPr id="4" name="TextBox 4"/>
            <p:cNvSpPr txBox="1"/>
            <p:nvPr/>
          </p:nvSpPr>
          <p:spPr>
            <a:xfrm>
              <a:off x="76200" y="76200"/>
              <a:ext cx="660400" cy="6604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marL="0" lvl="0" indent="0" algn="ctr">
                <a:lnSpc>
                  <a:spcPts val="2160"/>
                </a:lnSpc>
                <a:spcBef>
                  <a:spcPct val="0"/>
                </a:spcBef>
              </a:pPr>
              <a:endParaRPr/>
            </a:p>
          </p:txBody>
        </p:sp>
      </p:grpSp>
      <p:sp>
        <p:nvSpPr>
          <p:cNvPr id="5" name="TextBox 5"/>
          <p:cNvSpPr txBox="1"/>
          <p:nvPr/>
        </p:nvSpPr>
        <p:spPr>
          <a:xfrm>
            <a:off x="4647835" y="4645981"/>
            <a:ext cx="8992330" cy="85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578"/>
              </a:lnSpc>
              <a:spcBef>
                <a:spcPct val="0"/>
              </a:spcBef>
            </a:pPr>
            <a:r>
              <a:rPr lang="en-US" sz="4698" b="1" spc="70">
                <a:solidFill>
                  <a:srgbClr val="000000"/>
                </a:solidFill>
                <a:latin typeface="Telegraf Bold"/>
                <a:ea typeface="Telegraf Bold"/>
                <a:cs typeface="Telegraf Bold"/>
                <a:sym typeface="Telegraf Bold"/>
              </a:rPr>
              <a:t>Cảm ơn thầy cô đã lắng nghe!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179</TotalTime>
  <Words>734</Words>
  <Application>Microsoft Office PowerPoint</Application>
  <PresentationFormat>Custom</PresentationFormat>
  <Paragraphs>57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Telegraf Bold</vt:lpstr>
      <vt:lpstr>Arial</vt:lpstr>
      <vt:lpstr>Times New Roman</vt:lpstr>
      <vt:lpstr>Telegraf</vt:lpstr>
      <vt:lpstr>Arab Times</vt:lpstr>
      <vt:lpstr>Bogart Bold</vt:lpstr>
      <vt:lpstr>Nunito Sans Expanded Ultra-Bold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Salford &amp; Co.</dc:title>
  <cp:lastModifiedBy>Admin</cp:lastModifiedBy>
  <cp:revision>16</cp:revision>
  <dcterms:created xsi:type="dcterms:W3CDTF">2006-08-16T00:00:00Z</dcterms:created>
  <dcterms:modified xsi:type="dcterms:W3CDTF">2026-07-07T03:07:18Z</dcterms:modified>
  <dc:identifier>DAHODr9S-oE</dc:identifier>
</cp:coreProperties>
</file>